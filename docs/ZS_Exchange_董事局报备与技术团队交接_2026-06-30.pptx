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b51016b1e8a4375" /><Relationship Type="http://schemas.openxmlformats.org/officeDocument/2006/relationships/extended-properties" Target="/docProps/app.xml" Id="R675748debc7d41fc" /><Relationship Type="http://schemas.openxmlformats.org/officeDocument/2006/relationships/officeDocument" Target="/ppt/presentation.xml" Id="Rae1ea23dbcdd460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60713834cbb4123"/>
  </p:sldMasterIdLst>
  <p:notesMasterIdLst>
    <p:notesMasterId xmlns:r="http://schemas.openxmlformats.org/officeDocument/2006/relationships" r:id="Rba4e90b9a7d444a5"/>
  </p:notesMasterIdLst>
  <p:sldIdLst>
    <p:sldId xmlns:r="http://schemas.openxmlformats.org/officeDocument/2006/relationships" id="256" r:id="Rc72e2a869c8048c4"/>
    <p:sldId xmlns:r="http://schemas.openxmlformats.org/officeDocument/2006/relationships" id="257" r:id="Rb373f7cd3c284a14"/>
    <p:sldId xmlns:r="http://schemas.openxmlformats.org/officeDocument/2006/relationships" id="258" r:id="Rebe82c073fa94cf4"/>
    <p:sldId xmlns:r="http://schemas.openxmlformats.org/officeDocument/2006/relationships" id="259" r:id="R5f99c0b25cef4172"/>
    <p:sldId xmlns:r="http://schemas.openxmlformats.org/officeDocument/2006/relationships" id="260" r:id="Rdadfc79d81cf4d46"/>
    <p:sldId xmlns:r="http://schemas.openxmlformats.org/officeDocument/2006/relationships" id="261" r:id="R2bc0efab73a54c8f"/>
    <p:sldId xmlns:r="http://schemas.openxmlformats.org/officeDocument/2006/relationships" id="262" r:id="Ra37225a7ffae4995"/>
    <p:sldId xmlns:r="http://schemas.openxmlformats.org/officeDocument/2006/relationships" id="263" r:id="Rf40157d85f334315"/>
    <p:sldId xmlns:r="http://schemas.openxmlformats.org/officeDocument/2006/relationships" id="264" r:id="Rc5ef63efad8646ea"/>
    <p:sldId xmlns:r="http://schemas.openxmlformats.org/officeDocument/2006/relationships" id="265" r:id="Rbc0c7b19ee7e4402"/>
    <p:sldId xmlns:r="http://schemas.openxmlformats.org/officeDocument/2006/relationships" id="266" r:id="R8a732045751f44af"/>
    <p:sldId xmlns:r="http://schemas.openxmlformats.org/officeDocument/2006/relationships" id="267" r:id="R0bbe483196e84b5c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878500c322942dc" /><Relationship Type="http://schemas.openxmlformats.org/officeDocument/2006/relationships/slideMaster" Target="/ppt/slideMasters/slideMaster1.xml" Id="R160713834cbb4123" /><Relationship Type="http://schemas.openxmlformats.org/officeDocument/2006/relationships/notesMaster" Target="/ppt/notesMasters/notesMaster1.xml" Id="Rba4e90b9a7d444a5" /><Relationship Type="http://schemas.openxmlformats.org/officeDocument/2006/relationships/presProps" Target="/ppt/presProps.xml" Id="Rda239833af9a490b" /><Relationship Type="http://schemas.openxmlformats.org/officeDocument/2006/relationships/tableStyles" Target="/ppt/tableStyles.xml" Id="R7a417eb0ce6e4f82" /><Relationship Type="http://schemas.openxmlformats.org/officeDocument/2006/relationships/slide" Target="/ppt/slides/slide1.xml" Id="Rc72e2a869c8048c4" /><Relationship Type="http://schemas.openxmlformats.org/officeDocument/2006/relationships/slide" Target="/ppt/slides/slide2.xml" Id="Rb373f7cd3c284a14" /><Relationship Type="http://schemas.openxmlformats.org/officeDocument/2006/relationships/slide" Target="/ppt/slides/slide3.xml" Id="Rebe82c073fa94cf4" /><Relationship Type="http://schemas.openxmlformats.org/officeDocument/2006/relationships/slide" Target="/ppt/slides/slide4.xml" Id="R5f99c0b25cef4172" /><Relationship Type="http://schemas.openxmlformats.org/officeDocument/2006/relationships/slide" Target="/ppt/slides/slide5.xml" Id="Rdadfc79d81cf4d46" /><Relationship Type="http://schemas.openxmlformats.org/officeDocument/2006/relationships/slide" Target="/ppt/slides/slide6.xml" Id="R2bc0efab73a54c8f" /><Relationship Type="http://schemas.openxmlformats.org/officeDocument/2006/relationships/slide" Target="/ppt/slides/slide7.xml" Id="Ra37225a7ffae4995" /><Relationship Type="http://schemas.openxmlformats.org/officeDocument/2006/relationships/slide" Target="/ppt/slides/slide8.xml" Id="Rf40157d85f334315" /><Relationship Type="http://schemas.openxmlformats.org/officeDocument/2006/relationships/slide" Target="/ppt/slides/slide9.xml" Id="Rc5ef63efad8646ea" /><Relationship Type="http://schemas.openxmlformats.org/officeDocument/2006/relationships/slide" Target="/ppt/slides/slide10.xml" Id="Rbc0c7b19ee7e4402" /><Relationship Type="http://schemas.openxmlformats.org/officeDocument/2006/relationships/slide" Target="/ppt/slides/slide11.xml" Id="R8a732045751f44af" /><Relationship Type="http://schemas.openxmlformats.org/officeDocument/2006/relationships/slide" Target="/ppt/slides/slide12.xml" Id="R0bbe483196e84b5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5991c8438c1423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63366a5409c46ff" /><Relationship Type="http://schemas.openxmlformats.org/officeDocument/2006/relationships/notesMaster" Target="/ppt/notesMasters/notesMaster1.xml" Id="R92a8487952ba4b5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e61a0c713614b86" /><Relationship Type="http://schemas.openxmlformats.org/officeDocument/2006/relationships/notesMaster" Target="/ppt/notesMasters/notesMaster1.xml" Id="R62e5e04160c845e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5ed7ab6b5604ec6" /><Relationship Type="http://schemas.openxmlformats.org/officeDocument/2006/relationships/notesMaster" Target="/ppt/notesMasters/notesMaster1.xml" Id="R842133d4e0714bd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40f3ff286644c60" /><Relationship Type="http://schemas.openxmlformats.org/officeDocument/2006/relationships/notesMaster" Target="/ppt/notesMasters/notesMaster1.xml" Id="R8111daa68ee6405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d1762bf3d994ed7" /><Relationship Type="http://schemas.openxmlformats.org/officeDocument/2006/relationships/notesMaster" Target="/ppt/notesMasters/notesMaster1.xml" Id="Rb05751243db249d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06a4ea2d3224f64" /><Relationship Type="http://schemas.openxmlformats.org/officeDocument/2006/relationships/notesMaster" Target="/ppt/notesMasters/notesMaster1.xml" Id="Re00fb5203db7490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c5965ce680c4bae" /><Relationship Type="http://schemas.openxmlformats.org/officeDocument/2006/relationships/notesMaster" Target="/ppt/notesMasters/notesMaster1.xml" Id="R7ecb9b0874b84c2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fa24d6c04844c0a" /><Relationship Type="http://schemas.openxmlformats.org/officeDocument/2006/relationships/notesMaster" Target="/ppt/notesMasters/notesMaster1.xml" Id="R31807628123d4a5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132dc4c7fa34d4b" /><Relationship Type="http://schemas.openxmlformats.org/officeDocument/2006/relationships/notesMaster" Target="/ppt/notesMasters/notesMaster1.xml" Id="R8aebe545c8254fa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e168d9b8d814235" /><Relationship Type="http://schemas.openxmlformats.org/officeDocument/2006/relationships/notesMaster" Target="/ppt/notesMasters/notesMaster1.xml" Id="R79a86cd25d29410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1a5402533bf413f" /><Relationship Type="http://schemas.openxmlformats.org/officeDocument/2006/relationships/notesMaster" Target="/ppt/notesMasters/notesMaster1.xml" Id="R404054d4f58c477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62f09eb576d49e8" /><Relationship Type="http://schemas.openxmlformats.org/officeDocument/2006/relationships/notesMaster" Target="/ppt/notesMasters/notesMaster1.xml" Id="R925d6d6a0b384e8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d8fb7d961e0474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c1e778a3890451a" /><Relationship Type="http://schemas.openxmlformats.org/officeDocument/2006/relationships/slideLayout" Target="/ppt/slideLayouts/slideLayout1.xml" Id="R75d7b7a454f84d6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5d7b7a454f84d6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604237e77147df" /><Relationship Type="http://schemas.openxmlformats.org/officeDocument/2006/relationships/notesSlide" Target="/ppt/notesSlides/notesSlide1.xml" Id="Re87bd4242f18453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42c366de364614" /><Relationship Type="http://schemas.openxmlformats.org/officeDocument/2006/relationships/notesSlide" Target="/ppt/notesSlides/notesSlide2.xml" Id="R234f238d3eff448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d17837fd964932" /><Relationship Type="http://schemas.openxmlformats.org/officeDocument/2006/relationships/notesSlide" Target="/ppt/notesSlides/notesSlide3.xml" Id="Rdb531378c49f4b4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f11a3ea9864b5d" /><Relationship Type="http://schemas.openxmlformats.org/officeDocument/2006/relationships/notesSlide" Target="/ppt/notesSlides/notesSlide4.xml" Id="Rd49a02f8a72349a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08d6d9c18243d2" /><Relationship Type="http://schemas.openxmlformats.org/officeDocument/2006/relationships/notesSlide" Target="/ppt/notesSlides/notesSlide5.xml" Id="Ra9d60448dd814a9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0be67ed80249e4" /><Relationship Type="http://schemas.openxmlformats.org/officeDocument/2006/relationships/notesSlide" Target="/ppt/notesSlides/notesSlide6.xml" Id="R9be5ec11ddaf4ac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b31b53d9fa4e01" /><Relationship Type="http://schemas.openxmlformats.org/officeDocument/2006/relationships/notesSlide" Target="/ppt/notesSlides/notesSlide7.xml" Id="Rcb729db9b520400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d9eb44fe9e484b" /><Relationship Type="http://schemas.openxmlformats.org/officeDocument/2006/relationships/notesSlide" Target="/ppt/notesSlides/notesSlide8.xml" Id="Rd0c8a6a16024424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b83d15fc484918" /><Relationship Type="http://schemas.openxmlformats.org/officeDocument/2006/relationships/notesSlide" Target="/ppt/notesSlides/notesSlide9.xml" Id="Rc3f16c56f7c748e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39c639978d4b64" /><Relationship Type="http://schemas.openxmlformats.org/officeDocument/2006/relationships/notesSlide" Target="/ppt/notesSlides/notesSlide10.xml" Id="R7b0bf1b8d9634b4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7cd6e79e654fc6" /><Relationship Type="http://schemas.openxmlformats.org/officeDocument/2006/relationships/notesSlide" Target="/ppt/notesSlides/notesSlide11.xml" Id="Raf5c40c1bab0409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27e34bbd9b42a6" /><Relationship Type="http://schemas.openxmlformats.org/officeDocument/2006/relationships/notesSlide" Target="/ppt/notesSlides/notesSlide12.xml" Id="R9f76e4fb298b4ee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8E7548B-11B4-4517-BC10-616C583FF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"/>
            <a:ext cx="495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111827"/>
                </a:solidFill>
              </a:defRPr>
            </a:pPr>
            <a:r>
              <a:rPr sz="4200" b="1">
                <a:solidFill>
                  <a:srgbClr val="111827"/>
                </a:solidFill>
              </a:rPr>
              <a:t>ZS Exchange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4764F8-2E1C-4F5D-86F4-5CCB3CE08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66850"/>
            <a:ext cx="8001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</a:defRPr>
            </a:pPr>
            <a:r>
              <a:rPr sz="2550" b="1">
                <a:solidFill>
                  <a:srgbClr val="111827"/>
                </a:solidFill>
              </a:rPr>
              <a:t>交付工作包：董事局报备与技术团队交接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D0C5CC-3630-4237-A58A-EFD85FD07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38375"/>
            <a:ext cx="7334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B6475"/>
                </a:solidFill>
              </a:defRPr>
            </a:pPr>
            <a:r>
              <a:rPr sz="1800" b="0">
                <a:solidFill>
                  <a:srgbClr val="5B6475"/>
                </a:solidFill>
              </a:rPr>
              <a:t>工程资产已成型，MVP 主干接近可联调；尚未达到生产上线、主网上链、真实资金大规模承载标准。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9D43CA-9C8F-436E-BD7D-55C2F2066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914400"/>
            <a:ext cx="29527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A961EB-4CC3-4F97-A444-7A8C9E467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257300"/>
            <a:ext cx="228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F97316"/>
                </a:solidFill>
              </a:defRPr>
            </a:pPr>
            <a:r>
              <a:rPr sz="4200" b="1">
                <a:solidFill>
                  <a:srgbClr val="F97316"/>
                </a:solidFill>
              </a:rPr>
              <a:t>67 / 100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48B01E-8018-4B40-B972-C6C1B1358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038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当前完成度评估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EF51C7-B2F1-4D55-AF51-97C756853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38125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475"/>
                </a:solidFill>
              </a:defRPr>
            </a:pPr>
            <a:r>
              <a:rPr sz="1200" b="0">
                <a:solidFill>
                  <a:srgbClr val="5B6475"/>
                </a:solidFill>
              </a:rPr>
              <a:t>可交接、可冲刺；不建议直接生产发布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1076E0-EB6F-42D4-A2EF-86EA00D1E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76750"/>
            <a:ext cx="10134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632F1B-DAC8-4256-B16E-D580B4594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6250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B6475"/>
                </a:solidFill>
              </a:defRPr>
            </a:pPr>
            <a:r>
              <a:rPr sz="1800" b="0">
                <a:solidFill>
                  <a:srgbClr val="5B6475"/>
                </a:solidFill>
              </a:rPr>
              <a:t>2026-06-30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C15C29-282B-4769-B909-C0F5FBE65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0540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5"/>
                </a:solidFill>
              </a:defRPr>
            </a:pPr>
            <a:r>
              <a:rPr sz="1350" b="0">
                <a:solidFill>
                  <a:srgbClr val="5B6475"/>
                </a:solidFill>
              </a:rPr>
              <a:t>Stock Exchange dapp / Web3 交易平台工程交付</a:t>
            </a:r>
          </a:p>
        </p:txBody>
      </p:sp>
    </p:spTree>
    <p:extLst>
      <p:ext uri="{BB962C8B-B14F-4D97-AF65-F5344CB8AC3E}">
        <p14:creationId xmlns:p14="http://schemas.microsoft.com/office/powerpoint/2010/main" val="196730878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BBCF6D0-CDAB-4BF9-AA4E-7FA1C2ABA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B6475"/>
                </a:solidFill>
              </a:defRPr>
            </a:pPr>
            <a:r>
              <a:rPr sz="1200" b="1">
                <a:solidFill>
                  <a:srgbClr val="5B6475"/>
                </a:solidFill>
              </a:rPr>
              <a:t>ZS Exchange 交付报备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F53A44-849C-4632-BA5B-6A82EC834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董事局摘要：不是空壳，也不是生产系统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D4AD8E-ECA5-4908-B765-5BD6A4467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38250"/>
            <a:ext cx="11201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DF0ED4-CE92-458D-AAD2-982D8600E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14500"/>
            <a:ext cx="23812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17BB7E-DE15-4D35-9963-316F63D1A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24050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6A34A"/>
                </a:solidFill>
              </a:defRPr>
            </a:pPr>
            <a:r>
              <a:rPr sz="3000" b="1">
                <a:solidFill>
                  <a:srgbClr val="16A34A"/>
                </a:solidFill>
              </a:rPr>
              <a:t>已成型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E52997-F26F-4847-8B39-62A4D8151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03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475"/>
                </a:solidFill>
              </a:defRPr>
            </a:pPr>
            <a:r>
              <a:rPr sz="1200" b="0">
                <a:solidFill>
                  <a:srgbClr val="5B6475"/>
                </a:solidFill>
              </a:rPr>
              <a:t>工程资产、文档、模块、脚本完整沉淀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9DC465-9A2F-413E-92D4-C830628E9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714500"/>
            <a:ext cx="23812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596344-B167-4F44-B5CF-490078923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1924050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97316"/>
                </a:solidFill>
              </a:defRPr>
            </a:pPr>
            <a:r>
              <a:rPr sz="3000" b="1">
                <a:solidFill>
                  <a:srgbClr val="F97316"/>
                </a:solidFill>
              </a:rPr>
              <a:t>67分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5D5FF6-0E76-408A-954E-68EE76FA5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4003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475"/>
                </a:solidFill>
              </a:defRPr>
            </a:pPr>
            <a:r>
              <a:rPr sz="1200" b="0">
                <a:solidFill>
                  <a:srgbClr val="5B6475"/>
                </a:solidFill>
              </a:rPr>
              <a:t>按 100 分制的当前交付评估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FD3040-910F-4837-A861-E295DFBA3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714500"/>
            <a:ext cx="23812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AD8351-15D5-4716-9B6F-61B6A448C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924050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DC2626"/>
                </a:solidFill>
              </a:defRPr>
            </a:pPr>
            <a:r>
              <a:rPr sz="3000" b="1">
                <a:solidFill>
                  <a:srgbClr val="DC2626"/>
                </a:solidFill>
              </a:rPr>
              <a:t>33分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65F307-CD2F-4964-AB67-73CF59950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4003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475"/>
                </a:solidFill>
              </a:defRPr>
            </a:pPr>
            <a:r>
              <a:rPr sz="1200" b="0">
                <a:solidFill>
                  <a:srgbClr val="5B6475"/>
                </a:solidFill>
              </a:rPr>
              <a:t>剩余缺口集中在真实资金与生产安全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A787EA-1B01-4A78-84A4-213FAAA41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714500"/>
            <a:ext cx="23812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DEC339-0D62-4E9C-A8FA-9FD9DE04B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924050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2563EB"/>
                </a:solidFill>
              </a:defRPr>
            </a:pPr>
            <a:r>
              <a:rPr sz="3000" b="1">
                <a:solidFill>
                  <a:srgbClr val="2563EB"/>
                </a:solidFill>
              </a:rPr>
              <a:t>4条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FE09C8-97A3-48D4-865D-8A1CB6EF1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4003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475"/>
                </a:solidFill>
              </a:defRPr>
            </a:pPr>
            <a:r>
              <a:rPr sz="1200" b="0">
                <a:solidFill>
                  <a:srgbClr val="5B6475"/>
                </a:solidFill>
              </a:rPr>
              <a:t>下一阶段董事局重点决策主线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A0A532-B2B5-4B13-97D5-534276FD0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76625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6A34A"/>
                </a:solidFill>
              </a:defRPr>
            </a:pPr>
            <a:r>
              <a:rPr sz="975" b="0">
                <a:solidFill>
                  <a:srgbClr val="16A34A"/>
                </a:solidFill>
              </a:rPr>
              <a:t>■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560CE76-D0F7-4E0F-9EA9-76A5DFD24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429000"/>
            <a:ext cx="9658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可以交付技术团队接管，进入 MVP 冲刺、生产加固、内测准备阶段。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B866D8D-0F2E-4E8E-B890-238518545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33825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DC2626"/>
                </a:solidFill>
              </a:defRPr>
            </a:pPr>
            <a:r>
              <a:rPr sz="975" b="0">
                <a:solidFill>
                  <a:srgbClr val="DC2626"/>
                </a:solidFill>
              </a:rPr>
              <a:t>■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7C3277C-7D45-4434-BB9E-B0CAA22BD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886200"/>
            <a:ext cx="9658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不建议直接对外生产发布，尤其不能承载真实资金大规模流转。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F1F9AAE-F90E-47BB-8F9F-C37FC4460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91025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97316"/>
                </a:solidFill>
              </a:defRPr>
            </a:pPr>
            <a:r>
              <a:rPr sz="975" b="0">
                <a:solidFill>
                  <a:srgbClr val="F97316"/>
                </a:solidFill>
              </a:rPr>
              <a:t>■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B4EF95D-ACCF-4AA2-BD35-3F12F5085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343400"/>
            <a:ext cx="9658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下一阶段重点不是继续堆页面，而是跑通交易、钱包、签名、监控、回滚和审计闭环。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57379D9-5853-40EA-BDC6-42F42CCC0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5"/>
                </a:solidFill>
              </a:defRPr>
            </a:pPr>
            <a:r>
              <a:rPr sz="900" b="0">
                <a:solidFill>
                  <a:srgbClr val="5B6475"/>
                </a:solidFill>
              </a:rPr>
              <a:t>董事局报备 / 技术团队交接 · 2026-06-30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4758F2F-CF1E-4170-86EA-0F89642C2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475"/>
                </a:solidFill>
              </a:defRPr>
            </a:pPr>
            <a:r>
              <a:rPr sz="900" b="0">
                <a:solidFill>
                  <a:srgbClr val="5B6475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84905657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508E85D-637F-4520-867A-9B994DA2F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B6475"/>
                </a:solidFill>
              </a:defRPr>
            </a:pPr>
            <a:r>
              <a:rPr sz="1200" b="1">
                <a:solidFill>
                  <a:srgbClr val="5B6475"/>
                </a:solidFill>
              </a:rPr>
              <a:t>ZS Exchange 交付报备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72800C-4F7E-4219-A325-031A3F81D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100 分制进度：当前建议口径 67 / 100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0F18CB-24F6-4573-8A25-B9AFE864F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38250"/>
            <a:ext cx="11201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4127DB-B4C0-4B47-A047-30AFF6B48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基础工程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84402D-CB70-4DEB-9D0D-FA29BDD43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657350"/>
            <a:ext cx="6191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C0FE16-8903-4B80-9BA5-BAF5D5637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657350"/>
            <a:ext cx="55721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274044-D5E5-4318-902A-E985D44E0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1609725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A34A"/>
                </a:solidFill>
              </a:defRPr>
            </a:pPr>
            <a:r>
              <a:rPr sz="1350" b="1">
                <a:solidFill>
                  <a:srgbClr val="16A34A"/>
                </a:solidFill>
              </a:rPr>
              <a:t>9/10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0491F7-2210-4E6F-ADED-714C9BAC3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4787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数据库与模型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A30416-9A9A-4B35-AFA1-93B84021B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085975"/>
            <a:ext cx="6191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45192D-313E-4DA8-AE6E-43F810275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085975"/>
            <a:ext cx="51593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C4B11D-215B-4983-90AF-272EC8686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03835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A34A"/>
                </a:solidFill>
              </a:defRPr>
            </a:pPr>
            <a:r>
              <a:rPr sz="1350" b="1">
                <a:solidFill>
                  <a:srgbClr val="16A34A"/>
                </a:solidFill>
              </a:rPr>
              <a:t>10/12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F63570-5B9B-499F-A4A8-8C07EF975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API 主干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E8B3D7-6499-44E1-822F-3EEE52213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514600"/>
            <a:ext cx="6191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2877FC-4639-4148-BF79-22104A414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514600"/>
            <a:ext cx="4127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9525">
            <a:solidFill>
              <a:srgbClr val="F9731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BD2D60-CE50-47D8-A1C0-A95838CE4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466975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97316"/>
                </a:solidFill>
              </a:defRPr>
            </a:pPr>
            <a:r>
              <a:rPr sz="1350" b="1">
                <a:solidFill>
                  <a:srgbClr val="F97316"/>
                </a:solidFill>
              </a:rPr>
              <a:t>8/12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C1C01F9-1277-4C0C-A62C-8C8F39EDB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512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交易闭环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537754E-C0FB-4212-8398-4616F83FE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943225"/>
            <a:ext cx="6191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EAA6B29-4BB7-4775-8F4C-2346CD439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943225"/>
            <a:ext cx="3611563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9525">
            <a:solidFill>
              <a:srgbClr val="F9731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F5193A4-B054-4C5B-BEBA-838D1D393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89560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97316"/>
                </a:solidFill>
              </a:defRPr>
            </a:pPr>
            <a:r>
              <a:rPr sz="1350" b="1">
                <a:solidFill>
                  <a:srgbClr val="F97316"/>
                </a:solidFill>
              </a:rPr>
              <a:t>7/12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9A723BF-82B2-4989-B172-2B5E546F5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钱包资金安全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A196F66-154A-4EF2-9244-AD73AF647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371850"/>
            <a:ext cx="6191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9297978-CA58-4A86-A769-045C143A3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371850"/>
            <a:ext cx="330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9525">
            <a:solidFill>
              <a:srgbClr val="F9731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66CE866-8A1B-4445-A458-A68EA6996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3324225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97316"/>
                </a:solidFill>
              </a:defRPr>
            </a:pPr>
            <a:r>
              <a:rPr sz="1350" b="1">
                <a:solidFill>
                  <a:srgbClr val="F97316"/>
                </a:solidFill>
              </a:rPr>
              <a:t>8/15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E0AE443-A3BF-4981-9076-C7F149480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6237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DID / Web3 / DApp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75EE6CD-BC64-4E33-9EB7-330EB3728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800475"/>
            <a:ext cx="6191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D8A6D66-FC5E-432A-804B-6552DE11A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800475"/>
            <a:ext cx="3714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9525">
            <a:solidFill>
              <a:srgbClr val="F9731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312FE4B-70A9-4213-B83F-106F6D1DE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375285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97316"/>
                </a:solidFill>
              </a:defRPr>
            </a:pPr>
            <a:r>
              <a:rPr sz="1350" b="1">
                <a:solidFill>
                  <a:srgbClr val="F97316"/>
                </a:solidFill>
              </a:rPr>
              <a:t>6/10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AA2E72A-7349-4E42-A68F-CA1A6EEFC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前端与后台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58C6A5C-399C-4AF4-8E64-285E9BFF3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229100"/>
            <a:ext cx="6191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9281DD8-9A46-4361-B8AD-E04749BAA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229100"/>
            <a:ext cx="3714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9525">
            <a:solidFill>
              <a:srgbClr val="F97316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773A194-5935-4CFF-A979-580675395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4181475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97316"/>
                </a:solidFill>
              </a:defRPr>
            </a:pPr>
            <a:r>
              <a:rPr sz="1350" b="1">
                <a:solidFill>
                  <a:srgbClr val="F97316"/>
                </a:solidFill>
              </a:rPr>
              <a:t>6/10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F63717A-2751-4807-BC86-064544479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1962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测试与质量门禁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9C78065-7AB5-4E56-9EC2-B1C255A5B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657725"/>
            <a:ext cx="6191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650C281-CB4D-4FA4-9825-3F91CCB8E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657725"/>
            <a:ext cx="3869531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9525">
            <a:solidFill>
              <a:srgbClr val="DC2626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739E737-7331-4ABE-BF1F-F41C1AF5B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461010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C2626"/>
                </a:solidFill>
              </a:defRPr>
            </a:pPr>
            <a:r>
              <a:rPr sz="1350" b="1">
                <a:solidFill>
                  <a:srgbClr val="DC2626"/>
                </a:solidFill>
              </a:rPr>
              <a:t>5/8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7D229A4-8169-45F3-A53F-9F428BA26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运维监控与上线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873CAD0-3A4F-49BC-9724-5513AA017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086350"/>
            <a:ext cx="6191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29F159F-0D5E-466C-A4FF-B52151C7E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086350"/>
            <a:ext cx="3537857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9525">
            <a:solidFill>
              <a:srgbClr val="DC2626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88F3FD9-7A60-405F-B22D-688AEF434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5038725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C2626"/>
                </a:solidFill>
              </a:defRPr>
            </a:pPr>
            <a:r>
              <a:rPr sz="1350" b="1">
                <a:solidFill>
                  <a:srgbClr val="DC2626"/>
                </a:solidFill>
              </a:rPr>
              <a:t>4/7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FDE0DA9-0174-410A-99BE-1AF80E679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7687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合规、安全与审计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1322C4C-E2B4-43DD-83D4-333FEBC01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514975"/>
            <a:ext cx="6191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261D5D0-F970-4D75-A568-0C616206C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514975"/>
            <a:ext cx="6191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93A7A7C-B072-438C-8042-BA68D86D6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546735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A34A"/>
                </a:solidFill>
              </a:defRPr>
            </a:pPr>
            <a:r>
              <a:rPr sz="1350" b="1">
                <a:solidFill>
                  <a:srgbClr val="16A34A"/>
                </a:solidFill>
              </a:rPr>
              <a:t>4/4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62CEA10-5B7B-4B99-B0FF-14891D31F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638300"/>
            <a:ext cx="142875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392BA3F-F738-4EAF-BA40-4FA2EF16B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2038350"/>
            <a:ext cx="95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750" b="1">
                <a:solidFill>
                  <a:srgbClr val="F97316"/>
                </a:solidFill>
              </a:defRPr>
            </a:pPr>
            <a:r>
              <a:rPr sz="3750" b="1">
                <a:solidFill>
                  <a:srgbClr val="F97316"/>
                </a:solidFill>
              </a:rPr>
              <a:t>67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E007B8A-5D91-486D-9438-F2572BFB4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27432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当前总分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F655E65-6EEE-41E2-BCF1-D58FF3A89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3352800"/>
            <a:ext cx="95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B6475"/>
                </a:solidFill>
              </a:defRPr>
            </a:pPr>
            <a:r>
              <a:rPr sz="1350" b="0">
                <a:solidFill>
                  <a:srgbClr val="5B6475"/>
                </a:solidFill>
              </a:rPr>
              <a:t>可交接</a:t>
            </a:r>
          </a:p>
          <a:p xmlns:a="http://schemas.openxmlformats.org/drawingml/2006/main">
            <a:pPr algn="ctr">
              <a:defRPr sz="1350" b="0">
                <a:solidFill>
                  <a:srgbClr val="5B6475"/>
                </a:solidFill>
              </a:defRPr>
            </a:pPr>
            <a:r>
              <a:rPr sz="1350" b="0">
                <a:solidFill>
                  <a:srgbClr val="5B6475"/>
                </a:solidFill>
              </a:rPr>
              <a:t>可冲刺</a:t>
            </a:r>
          </a:p>
          <a:p xmlns:a="http://schemas.openxmlformats.org/drawingml/2006/main">
            <a:pPr algn="ctr">
              <a:defRPr sz="1350" b="0">
                <a:solidFill>
                  <a:srgbClr val="5B6475"/>
                </a:solidFill>
              </a:defRPr>
            </a:pPr>
            <a:r>
              <a:rPr sz="1350" b="0">
                <a:solidFill>
                  <a:srgbClr val="5B6475"/>
                </a:solidFill>
              </a:rPr>
              <a:t>不可直接上线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DD48609-A80C-48F1-82FB-4F4A0AAE3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5"/>
                </a:solidFill>
              </a:defRPr>
            </a:pPr>
            <a:r>
              <a:rPr sz="900" b="0">
                <a:solidFill>
                  <a:srgbClr val="5B6475"/>
                </a:solidFill>
              </a:rPr>
              <a:t>董事局报备 / 技术团队交接 · 2026-06-30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DA945D4-4095-470D-B4F9-5A44C53CC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475"/>
                </a:solidFill>
              </a:defRPr>
            </a:pPr>
            <a:r>
              <a:rPr sz="900" b="0">
                <a:solidFill>
                  <a:srgbClr val="5B6475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96849791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83FA009-C98D-43EA-BBAB-6C7E09961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B6475"/>
                </a:solidFill>
              </a:defRPr>
            </a:pPr>
            <a:r>
              <a:rPr sz="1200" b="1">
                <a:solidFill>
                  <a:srgbClr val="5B6475"/>
                </a:solidFill>
              </a:rPr>
              <a:t>ZS Exchange 交付报备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05D017-87E1-4EC4-8456-3B8FB24D8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交付工程清单：技术团队可以按域接收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C24714-BFAF-45A9-A349-1D6D16F6F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38250"/>
            <a:ext cx="11201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36AD71-D28E-414A-B2E1-4B930C086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4953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671EA1-6099-4D61-8A15-EA60E04A0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716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主应用框架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1E7E20-2266-4BB2-A0D6-8908D02E1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771650"/>
            <a:ext cx="2905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5"/>
                </a:solidFill>
              </a:defRPr>
            </a:pPr>
            <a:r>
              <a:rPr sz="1275" b="0">
                <a:solidFill>
                  <a:srgbClr val="5B6475"/>
                </a:solidFill>
              </a:rPr>
              <a:t>Next.js / React / TypeScript / Tailwind / Ant Design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F544CC-0C15-4916-BD0C-3924D1D5A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19250"/>
            <a:ext cx="4953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B2B144-0AD1-4D75-8E01-8471AFC3B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17716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数据层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1A7AA0-3A76-44F8-B467-8EC45A6EF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771650"/>
            <a:ext cx="2905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5"/>
                </a:solidFill>
              </a:defRPr>
            </a:pPr>
            <a:r>
              <a:rPr sz="1275" b="0">
                <a:solidFill>
                  <a:srgbClr val="5B6475"/>
                </a:solidFill>
              </a:rPr>
              <a:t>Prisma 覆盖用户、交易、钱包、Web3、审计、合约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D3A567-E514-45C6-AE2B-03CD57CFB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09850"/>
            <a:ext cx="4953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71AA67-FE50-4AC0-910A-1CCCE2A15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622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API 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132D96-3659-43F0-85A6-E115C046D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762250"/>
            <a:ext cx="2905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5"/>
                </a:solidFill>
              </a:defRPr>
            </a:pPr>
            <a:r>
              <a:rPr sz="1275" b="0">
                <a:solidFill>
                  <a:srgbClr val="5B6475"/>
                </a:solidFill>
              </a:rPr>
              <a:t>用户、行情、交易、钱包、Solana、DID、后台管理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239D5C-8E01-4418-8BA7-DED9C2ACC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609850"/>
            <a:ext cx="4953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040539-18B0-4973-9DEE-DC9CC7FD5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7622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交易能力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59DFDA-A7D1-4B4E-989E-8215D1CFA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762250"/>
            <a:ext cx="2905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5"/>
                </a:solidFill>
              </a:defRPr>
            </a:pPr>
            <a:r>
              <a:rPr sz="1275" b="0">
                <a:solidFill>
                  <a:srgbClr val="5B6475"/>
                </a:solidFill>
              </a:rPr>
              <a:t>现货订单、撮合、成交、深度、永续合约代码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43ACE7-97AA-4FE6-AB17-953784434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00450"/>
            <a:ext cx="4953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E93A2A8-BD43-44E0-A07B-280EDFD3B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528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钱包能力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AB294C5-9395-4EA7-8B1A-C125ABA90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752850"/>
            <a:ext cx="2905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5"/>
                </a:solidFill>
              </a:defRPr>
            </a:pPr>
            <a:r>
              <a:rPr sz="1275" b="0">
                <a:solidFill>
                  <a:srgbClr val="5B6475"/>
                </a:solidFill>
              </a:rPr>
              <a:t>充值、提现、地址、余额、热钱包、链监听、对账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2C4F3FE-79CF-4B81-8412-73326BEA9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600450"/>
            <a:ext cx="4953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7F348F3-87E8-412F-9B5C-8F4652E71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7528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Web3 / DID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72D840D-AC36-421B-A331-EE844AB92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752850"/>
            <a:ext cx="2905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5"/>
                </a:solidFill>
              </a:defRPr>
            </a:pPr>
            <a:r>
              <a:rPr sz="1275" b="0">
                <a:solidFill>
                  <a:srgbClr val="5B6475"/>
                </a:solidFill>
              </a:rPr>
              <a:t>多链账户、签名、VC、钱包绑定、DApp Browser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DB8BF25-5166-44F5-864E-3EB110D92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91050"/>
            <a:ext cx="4953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5618F0D-8120-4027-B242-C6C413FD0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434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运维与测试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7376BEA-7971-4DE4-9C72-BD18E606F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743450"/>
            <a:ext cx="2905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5"/>
                </a:solidFill>
              </a:defRPr>
            </a:pPr>
            <a:r>
              <a:rPr sz="1275" b="0">
                <a:solidFill>
                  <a:srgbClr val="5B6475"/>
                </a:solidFill>
              </a:rPr>
              <a:t>Docker、K8s 文档、Prometheus、P0 health scripts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60034CF-3A72-4CDE-860A-DC443DA8C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591050"/>
            <a:ext cx="4953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2F984E5-8B88-4F62-89D4-B324C14EF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7434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文档体系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96422CA-AD67-4648-93D4-8BCBE7340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743450"/>
            <a:ext cx="2905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5"/>
                </a:solidFill>
              </a:defRPr>
            </a:pPr>
            <a:r>
              <a:rPr sz="1275" b="0">
                <a:solidFill>
                  <a:srgbClr val="5B6475"/>
                </a:solidFill>
              </a:rPr>
              <a:t>技术、功能、实施计划、MVP 路线、上线审计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08A100D-2D6B-4D45-840C-845CDC48A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5"/>
                </a:solidFill>
              </a:defRPr>
            </a:pPr>
            <a:r>
              <a:rPr sz="900" b="0">
                <a:solidFill>
                  <a:srgbClr val="5B6475"/>
                </a:solidFill>
              </a:rPr>
              <a:t>董事局报备 / 技术团队交接 · 2026-06-30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93CAF2E-753C-4A7B-97FA-F33DBBA23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475"/>
                </a:solidFill>
              </a:defRPr>
            </a:pPr>
            <a:r>
              <a:rPr sz="900" b="0">
                <a:solidFill>
                  <a:srgbClr val="5B6475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1904641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6A5CCBB-2A38-45FF-88B0-3AE8B782B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B6475"/>
                </a:solidFill>
              </a:defRPr>
            </a:pPr>
            <a:r>
              <a:rPr sz="1200" b="1">
                <a:solidFill>
                  <a:srgbClr val="5B6475"/>
                </a:solidFill>
              </a:rPr>
              <a:t>ZS Exchange 交付报备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CB3EAA-1741-4C17-B6AA-31ABE17D0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技术架构图 1：总体技术架构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9B15E9-472E-4EEE-9513-EAE0723B2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38250"/>
            <a:ext cx="11201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FE61E6-8A50-4190-8CA3-2CB1B863B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4097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B6475"/>
                </a:solidFill>
              </a:defRPr>
            </a:pPr>
            <a:r>
              <a:rPr sz="1350" b="1">
                <a:solidFill>
                  <a:srgbClr val="5B6475"/>
                </a:solidFill>
              </a:rPr>
              <a:t>用户入口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010AC8-D97E-46B6-977B-3C95B1C62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619250"/>
            <a:ext cx="1714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9525">
            <a:solidFill>
              <a:srgbClr val="7DD3F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FECD21-2B54-4059-8690-0C29961B5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714500"/>
            <a:ext cx="1524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Web / H5</a:t>
            </a:r>
          </a:p>
          <a:p xmlns:a="http://schemas.openxmlformats.org/drawingml/2006/main">
            <a:pPr algn="ctr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用户端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C59A3B-F93B-4A7A-9D58-3B3BCDF6C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619250"/>
            <a:ext cx="1714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9525">
            <a:solidFill>
              <a:srgbClr val="7DD3F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92BCF4-AF5D-4400-BF89-4E53A0B25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714500"/>
            <a:ext cx="1524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管理后台</a:t>
            </a:r>
          </a:p>
          <a:p xmlns:a="http://schemas.openxmlformats.org/drawingml/2006/main">
            <a:pPr algn="ctr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运营与风控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72D074-786F-46A3-901F-C57B7561F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1619250"/>
            <a:ext cx="1714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9525">
            <a:solidFill>
              <a:srgbClr val="7DD3F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E8D49B-6485-44F2-A9B4-168140907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1714500"/>
            <a:ext cx="1524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移动端壳</a:t>
            </a:r>
          </a:p>
          <a:p xmlns:a="http://schemas.openxmlformats.org/drawingml/2006/main">
            <a:pPr algn="ctr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Capacitor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9E9163-723C-4A9E-9BC6-158E41BA3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50507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B6475"/>
                </a:solidFill>
              </a:defRPr>
            </a:pPr>
            <a:r>
              <a:rPr sz="1350" b="1">
                <a:solidFill>
                  <a:srgbClr val="5B6475"/>
                </a:solidFill>
              </a:rPr>
              <a:t>应用层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C01277-DA11-4AAC-A403-0BDAB2831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714625"/>
            <a:ext cx="1714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86EFA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2840D6-746E-424B-8C77-5241D43E5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809875"/>
            <a:ext cx="1524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页面路由</a:t>
            </a:r>
          </a:p>
          <a:p xmlns:a="http://schemas.openxmlformats.org/drawingml/2006/main">
            <a:pPr algn="ctr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src/app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C4BE92-6E9A-4E87-83AC-B22F7C652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714625"/>
            <a:ext cx="1714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86EFA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C2779F-D91A-4F47-BE8C-C84EA686F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809875"/>
            <a:ext cx="1524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API Routes</a:t>
            </a:r>
          </a:p>
          <a:p xmlns:a="http://schemas.openxmlformats.org/drawingml/2006/main">
            <a:pPr algn="ctr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src/app/api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553D03-0D7E-4D30-82C2-026091DAA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714625"/>
            <a:ext cx="1714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86EFA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B140B6-3085-4EC5-8115-1014C06C9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809875"/>
            <a:ext cx="1524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组件 / 状态</a:t>
            </a:r>
          </a:p>
          <a:p xmlns:a="http://schemas.openxmlformats.org/drawingml/2006/main">
            <a:pPr algn="ctr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hooks / stores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DE93E04-8757-445D-818E-C2695D56D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93382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B6475"/>
                </a:solidFill>
              </a:defRPr>
            </a:pPr>
            <a:r>
              <a:rPr sz="1350" b="1">
                <a:solidFill>
                  <a:srgbClr val="5B6475"/>
                </a:solidFill>
              </a:rPr>
              <a:t>核心业务域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42C2AEC-2316-4CA2-A7A6-5D9D1EAF0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143375"/>
            <a:ext cx="1714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DBA7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B3D61E2-D5D7-41FF-9EDB-78878E4D8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238625"/>
            <a:ext cx="1524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用户认证</a:t>
            </a:r>
          </a:p>
          <a:p xmlns:a="http://schemas.openxmlformats.org/drawingml/2006/main">
            <a:pPr algn="ctr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JWT/RBAC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BA6FA00-5FAE-4D2D-AFCB-EF0484998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143375"/>
            <a:ext cx="1714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DBA7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9DD3CE6-A6C2-4880-B253-A7143D273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238625"/>
            <a:ext cx="1524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行情</a:t>
            </a:r>
          </a:p>
          <a:p xmlns:a="http://schemas.openxmlformats.org/drawingml/2006/main">
            <a:pPr algn="ctr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K线/深度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FCAC73C-F852-4879-BE6C-5F00FEFAC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4143375"/>
            <a:ext cx="1714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DBA7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30BDB43-6158-4519-BA66-29609CA92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238625"/>
            <a:ext cx="1524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交易</a:t>
            </a:r>
          </a:p>
          <a:p xmlns:a="http://schemas.openxmlformats.org/drawingml/2006/main">
            <a:pPr algn="ctr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订单/撮合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591841D-3A11-47E1-B0E4-E44F27F82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143375"/>
            <a:ext cx="1714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DBA7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BD65338-D9A8-44AC-8F21-32F651DDC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238625"/>
            <a:ext cx="1524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钱包</a:t>
            </a:r>
          </a:p>
          <a:p xmlns:a="http://schemas.openxmlformats.org/drawingml/2006/main">
            <a:pPr algn="ctr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充提/对账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FA8D28E-6B5F-4E02-88E6-251DD2ED0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4143375"/>
            <a:ext cx="1714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DBA7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2605ED6-4B38-42E1-A67B-F1713529F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4238625"/>
            <a:ext cx="1524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Web3/DID</a:t>
            </a:r>
          </a:p>
          <a:p xmlns:a="http://schemas.openxmlformats.org/drawingml/2006/main">
            <a:pPr algn="ctr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签名/DApp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D03A057-B3E5-460D-95A0-0F021E834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362575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B6475"/>
                </a:solidFill>
              </a:defRPr>
            </a:pPr>
            <a:r>
              <a:rPr sz="1350" b="1">
                <a:solidFill>
                  <a:srgbClr val="5B6475"/>
                </a:solidFill>
              </a:rPr>
              <a:t>数据、外部依赖与运维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77B5D94-8608-4EB7-85C2-85927B369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572125"/>
            <a:ext cx="1714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9525">
            <a:solidFill>
              <a:srgbClr val="C4B5FD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71C0B63-3306-43C1-9C6E-B5AF687AD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667375"/>
            <a:ext cx="1524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PostgreSQL</a:t>
            </a:r>
          </a:p>
          <a:p xmlns:a="http://schemas.openxmlformats.org/drawingml/2006/main">
            <a:pPr algn="ctr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Prisma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5D15274-55B9-4809-9C5E-A8F14CC55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572125"/>
            <a:ext cx="1714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9525">
            <a:solidFill>
              <a:srgbClr val="C4B5FD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28660D3-3996-495C-80F4-5444F1FEA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667375"/>
            <a:ext cx="1524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Redis</a:t>
            </a:r>
          </a:p>
          <a:p xmlns:a="http://schemas.openxmlformats.org/drawingml/2006/main">
            <a:pPr algn="ctr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缓存/队列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42275DB-81AD-4B88-A86F-2C9D24EE9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5572125"/>
            <a:ext cx="1714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9525">
            <a:solidFill>
              <a:srgbClr val="C4B5FD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A5F20F0-1333-4692-A53D-C91B6CBD8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5667375"/>
            <a:ext cx="1524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区块链 RPC</a:t>
            </a:r>
          </a:p>
          <a:p xmlns:a="http://schemas.openxmlformats.org/drawingml/2006/main">
            <a:pPr algn="ctr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EVM/Solana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28A5D76-79BF-4B9C-9D1C-373448F84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572125"/>
            <a:ext cx="1714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9525">
            <a:solidFill>
              <a:srgbClr val="C4B5FD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CFE5B11-26BA-415E-92C2-23F9C7C81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667375"/>
            <a:ext cx="1524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KMS/MPC</a:t>
            </a:r>
          </a:p>
          <a:p xmlns:a="http://schemas.openxmlformats.org/drawingml/2006/main">
            <a:pPr algn="ctr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生产签名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3DD4F46-F998-47A8-B96C-436F1B26C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5572125"/>
            <a:ext cx="1714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9525">
            <a:solidFill>
              <a:srgbClr val="C4B5FD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9EA8E27-3E98-4168-9B71-8AFDFEF17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5667375"/>
            <a:ext cx="1524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监控/测试</a:t>
            </a:r>
          </a:p>
          <a:p xmlns:a="http://schemas.openxmlformats.org/drawingml/2006/main">
            <a:pPr algn="ctr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Docker/K8s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DDB9EF2-8C2A-4F87-9084-33E92F3FC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286000"/>
            <a:ext cx="190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C38BBEF-0C46-45FD-92D8-C1FD4D3E9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2286000"/>
            <a:ext cx="190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89063BC-C6D9-4A08-893D-399FCE54F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286000"/>
            <a:ext cx="190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89161FE-DAB5-4CF3-830B-5BD1EE365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381375"/>
            <a:ext cx="190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29FE181-A8DB-4980-BAF0-E3ECCD94D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3381375"/>
            <a:ext cx="190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519B9A1-354E-48AE-AD2F-D4CE76F16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381375"/>
            <a:ext cx="190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9C9258A-CF82-4454-87D2-F314FADEC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810125"/>
            <a:ext cx="190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D17C80F-70AB-4EE2-AA75-542DD29EC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4810125"/>
            <a:ext cx="190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8A8188B-D8C2-4E2D-8F23-93467BEA0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810125"/>
            <a:ext cx="190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89522D8-2BEE-4C70-8E6B-90433D323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810125"/>
            <a:ext cx="190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CD1910D-91DD-437F-AE20-326852028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4810125"/>
            <a:ext cx="190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2F2A2DA-A11B-4038-ADA5-D28EAF3F9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371850"/>
            <a:ext cx="6715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CA58F10-DA1A-41AF-B131-D48793A19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800600"/>
            <a:ext cx="8953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E97D253-C17F-4FFC-9099-C4A55A352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5"/>
                </a:solidFill>
              </a:defRPr>
            </a:pPr>
            <a:r>
              <a:rPr sz="900" b="0">
                <a:solidFill>
                  <a:srgbClr val="5B6475"/>
                </a:solidFill>
              </a:rPr>
              <a:t>董事局报备 / 技术团队交接 · 2026-06-30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CD84785-4392-40E0-9D7C-13A0007BE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475"/>
                </a:solidFill>
              </a:defRPr>
            </a:pPr>
            <a:r>
              <a:rPr sz="900" b="0">
                <a:solidFill>
                  <a:srgbClr val="5B6475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031307027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39F56FB-BD8E-4071-A17B-11BF3A83B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B6475"/>
                </a:solidFill>
              </a:defRPr>
            </a:pPr>
            <a:r>
              <a:rPr sz="1200" b="1">
                <a:solidFill>
                  <a:srgbClr val="5B6475"/>
                </a:solidFill>
              </a:rPr>
              <a:t>ZS Exchange 交付报备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7425D1-AA74-4F3A-99C3-D456E01D9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技术架构图 2：交易与钱包核心闭环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5E27EC-7BD0-415C-94D4-F7AA2B5AF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38250"/>
            <a:ext cx="11201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E89BEB-ADED-4D5E-852F-C6DF672FC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62125"/>
            <a:ext cx="11239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9525">
            <a:solidFill>
              <a:srgbClr val="7DD3F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F2F409-C3E0-4B4C-B55B-27DC30540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57375"/>
            <a:ext cx="933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827"/>
                </a:solidFill>
              </a:defRPr>
            </a:pPr>
            <a:r>
              <a:rPr sz="1125" b="1">
                <a:solidFill>
                  <a:srgbClr val="111827"/>
                </a:solidFill>
              </a:rPr>
              <a:t>注册/登录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39A497-809D-43DE-B838-6B03463B2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1762125"/>
            <a:ext cx="11239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9525">
            <a:solidFill>
              <a:srgbClr val="7DD3F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7B89C9-2A60-40F7-B466-C359D4EBC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1857375"/>
            <a:ext cx="933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827"/>
                </a:solidFill>
              </a:defRPr>
            </a:pPr>
            <a:r>
              <a:rPr sz="1125" b="1">
                <a:solidFill>
                  <a:srgbClr val="111827"/>
                </a:solidFill>
              </a:rPr>
              <a:t>充值地址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A2D15F-2E1F-4792-B092-642702768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762125"/>
            <a:ext cx="11239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9525">
            <a:solidFill>
              <a:srgbClr val="7DD3F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081A23-B751-476F-A65A-B5C455DB8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857375"/>
            <a:ext cx="933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827"/>
                </a:solidFill>
              </a:defRPr>
            </a:pPr>
            <a:r>
              <a:rPr sz="1125" b="1">
                <a:solidFill>
                  <a:srgbClr val="111827"/>
                </a:solidFill>
              </a:rPr>
              <a:t>链上充值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1F49CF-B8CB-4C89-971B-5C6CBDEF1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1762125"/>
            <a:ext cx="11239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9525">
            <a:solidFill>
              <a:srgbClr val="7DD3F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3B6AC6-D9F6-455C-82E7-90D99EE30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1857375"/>
            <a:ext cx="933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827"/>
                </a:solidFill>
              </a:defRPr>
            </a:pPr>
            <a:r>
              <a:rPr sz="1125" b="1">
                <a:solidFill>
                  <a:srgbClr val="111827"/>
                </a:solidFill>
              </a:rPr>
              <a:t>充值监听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395ACA-5A9A-425C-AE26-9397FE8DC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762125"/>
            <a:ext cx="11239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9525">
            <a:solidFill>
              <a:srgbClr val="7DD3F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DB0E0D-116C-4E8A-B6B5-098F45471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857375"/>
            <a:ext cx="933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827"/>
                </a:solidFill>
              </a:defRPr>
            </a:pPr>
            <a:r>
              <a:rPr sz="1125" b="1">
                <a:solidFill>
                  <a:srgbClr val="111827"/>
                </a:solidFill>
              </a:rPr>
              <a:t>入账余额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AF6D42-90CA-40E5-826E-A1CDDCB64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047875"/>
            <a:ext cx="3524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52D41B-7EEF-4976-A415-86C84FE0C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2047875"/>
            <a:ext cx="3524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691DD0-E4DB-4519-A863-A859EC0F5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047875"/>
            <a:ext cx="3524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C5D3A0-6A07-4EC9-A3F2-9AADD8C52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2047875"/>
            <a:ext cx="3524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275D086-6EA2-4C1D-93AF-15E9B19E4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286125"/>
            <a:ext cx="11239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DBA7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574AF59-72C8-4C93-BDF4-9FF6CEBF0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381375"/>
            <a:ext cx="933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827"/>
                </a:solidFill>
              </a:defRPr>
            </a:pPr>
            <a:r>
              <a:rPr sz="1125" b="1">
                <a:solidFill>
                  <a:srgbClr val="111827"/>
                </a:solidFill>
              </a:rPr>
              <a:t>用户下单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3548891-375D-4E52-A738-102A1F62D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286125"/>
            <a:ext cx="11239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DBA7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A459B5C-DC9B-4DA7-8AD6-7C3B45478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381375"/>
            <a:ext cx="933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827"/>
                </a:solidFill>
              </a:defRPr>
            </a:pPr>
            <a:r>
              <a:rPr sz="1125" b="1">
                <a:solidFill>
                  <a:srgbClr val="111827"/>
                </a:solidFill>
              </a:rPr>
              <a:t>冻结余额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4B7A815-5C60-4A94-913E-EE5A4B263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286125"/>
            <a:ext cx="11239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DBA7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59EFFB3-DFBC-4BDA-B53B-1BCE6E0C9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381375"/>
            <a:ext cx="933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827"/>
                </a:solidFill>
              </a:defRPr>
            </a:pPr>
            <a:r>
              <a:rPr sz="1125" b="1">
                <a:solidFill>
                  <a:srgbClr val="111827"/>
                </a:solidFill>
              </a:rPr>
              <a:t>撮合引擎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194B26C-DC15-4E0D-A0EB-DB04689AB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286125"/>
            <a:ext cx="11239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DBA7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78201C6-9665-46C8-8202-852BFE8E3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381375"/>
            <a:ext cx="933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827"/>
                </a:solidFill>
              </a:defRPr>
            </a:pPr>
            <a:r>
              <a:rPr sz="1125" b="1">
                <a:solidFill>
                  <a:srgbClr val="111827"/>
                </a:solidFill>
              </a:rPr>
              <a:t>成交记录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144B1FE-C845-448B-A61C-467A7479C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286125"/>
            <a:ext cx="11239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DBA7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314B0BA-AA46-4079-A71B-681FC1422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381375"/>
            <a:ext cx="933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827"/>
                </a:solidFill>
              </a:defRPr>
            </a:pPr>
            <a:r>
              <a:rPr sz="1125" b="1">
                <a:solidFill>
                  <a:srgbClr val="111827"/>
                </a:solidFill>
              </a:rPr>
              <a:t>清结算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E59D8C9-06F6-4B07-B464-5F26411CC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571875"/>
            <a:ext cx="3524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F0C9AAC-417B-477F-AEC9-0F2848294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571875"/>
            <a:ext cx="3524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6A81868-EBE0-4626-8412-043E2418B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571875"/>
            <a:ext cx="3524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C4BA78B-4639-480D-A331-2FDBB711A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3571875"/>
            <a:ext cx="3524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0E774A0-2529-4140-804A-4FD037DEA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343150"/>
            <a:ext cx="45624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433A9F6-8112-4B90-B867-5D4AEBE2F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810125"/>
            <a:ext cx="11239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9525">
            <a:solidFill>
              <a:srgbClr val="C4B5FD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28EDED7-0F6B-4A1C-8B7D-49D82A3AD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905375"/>
            <a:ext cx="933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827"/>
                </a:solidFill>
              </a:defRPr>
            </a:pPr>
            <a:r>
              <a:rPr sz="1125" b="1">
                <a:solidFill>
                  <a:srgbClr val="111827"/>
                </a:solidFill>
              </a:rPr>
              <a:t>提现申请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3CF0AEC-26F6-4097-AB17-8EDC219A2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810125"/>
            <a:ext cx="11239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2F2"/>
          </a:solidFill>
          <a:ln xmlns:a="http://schemas.openxmlformats.org/drawingml/2006/main" w="9525">
            <a:solidFill>
              <a:srgbClr val="FCA5A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1ED06BA-5CDA-49B0-BBE6-9E8D017A7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905375"/>
            <a:ext cx="933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827"/>
                </a:solidFill>
              </a:defRPr>
            </a:pPr>
            <a:r>
              <a:rPr sz="1125" b="1">
                <a:solidFill>
                  <a:srgbClr val="111827"/>
                </a:solidFill>
              </a:rPr>
              <a:t>后台审核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0FBA193-084D-400D-96B6-7E85DDB81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4810125"/>
            <a:ext cx="11239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9525">
            <a:solidFill>
              <a:srgbClr val="C4B5FD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BB95406-DE65-42AD-95FC-32E0C3FE9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4905375"/>
            <a:ext cx="933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827"/>
                </a:solidFill>
              </a:defRPr>
            </a:pPr>
            <a:r>
              <a:rPr sz="1125" b="1">
                <a:solidFill>
                  <a:srgbClr val="111827"/>
                </a:solidFill>
              </a:rPr>
              <a:t>KMS/MPC</a:t>
            </a:r>
          </a:p>
          <a:p xmlns:a="http://schemas.openxmlformats.org/drawingml/2006/main">
            <a:pPr algn="ctr">
              <a:defRPr sz="1125" b="1">
                <a:solidFill>
                  <a:srgbClr val="111827"/>
                </a:solidFill>
              </a:defRPr>
            </a:pPr>
            <a:r>
              <a:rPr sz="1125" b="1">
                <a:solidFill>
                  <a:srgbClr val="111827"/>
                </a:solidFill>
              </a:rPr>
              <a:t>签名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01EBE2C-F2F9-4E73-A278-70BE39AAD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810125"/>
            <a:ext cx="11239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9525">
            <a:solidFill>
              <a:srgbClr val="C4B5FD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5DAA058-4AAB-4831-B41A-1DE80E250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905375"/>
            <a:ext cx="933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827"/>
                </a:solidFill>
              </a:defRPr>
            </a:pPr>
            <a:r>
              <a:rPr sz="1125" b="1">
                <a:solidFill>
                  <a:srgbClr val="111827"/>
                </a:solidFill>
              </a:rPr>
              <a:t>链上广播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6B106ED-C642-461C-A0C1-34D7CE84A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4810125"/>
            <a:ext cx="11239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9525">
            <a:solidFill>
              <a:srgbClr val="C4B5FD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94182FC-DE41-4B38-8644-7DE1D324A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4905375"/>
            <a:ext cx="933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827"/>
                </a:solidFill>
              </a:defRPr>
            </a:pPr>
            <a:r>
              <a:rPr sz="1125" b="1">
                <a:solidFill>
                  <a:srgbClr val="111827"/>
                </a:solidFill>
              </a:rPr>
              <a:t>对账审计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95E5B64-288B-48F5-B4D7-236E73EAD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5095875"/>
            <a:ext cx="3524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AB7E92C-2280-4389-8315-A4E46FF31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5095875"/>
            <a:ext cx="3524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13AF7B1-E2AB-4BA5-A03E-EDC38B695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5095875"/>
            <a:ext cx="3524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0E43E8F-1E0D-404E-8C59-FBC264167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5095875"/>
            <a:ext cx="3524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6ED48E3-76B5-4A82-8C25-909241E92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67150"/>
            <a:ext cx="3571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09F2BFA-7996-49D1-A7A3-341241DF3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10125"/>
            <a:ext cx="1809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2F2"/>
          </a:solidFill>
          <a:ln xmlns:a="http://schemas.openxmlformats.org/drawingml/2006/main" w="9525">
            <a:solidFill>
              <a:srgbClr val="FCA5A5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EFACD23-23B4-4535-96DF-6E7379F56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05375"/>
            <a:ext cx="161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827"/>
                </a:solidFill>
              </a:defRPr>
            </a:pPr>
            <a:r>
              <a:rPr sz="1125" b="1">
                <a:solidFill>
                  <a:srgbClr val="111827"/>
                </a:solidFill>
              </a:rPr>
              <a:t>风控规则</a:t>
            </a:r>
          </a:p>
          <a:p xmlns:a="http://schemas.openxmlformats.org/drawingml/2006/main">
            <a:pPr algn="ctr">
              <a:defRPr sz="1125" b="1">
                <a:solidFill>
                  <a:srgbClr val="111827"/>
                </a:solidFill>
              </a:defRPr>
            </a:pPr>
            <a:r>
              <a:rPr sz="1125" b="1">
                <a:solidFill>
                  <a:srgbClr val="111827"/>
                </a:solidFill>
              </a:rPr>
              <a:t>限额/黑名单/异常行为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ACA4E5B-2BCB-4AAF-862F-C02837221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095875"/>
            <a:ext cx="1857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A5A5"/>
          </a:solidFill>
          <a:ln xmlns:a="http://schemas.openxmlformats.org/drawingml/2006/main" w="9525">
            <a:solidFill>
              <a:srgbClr val="FCA5A5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7974743-6132-4604-A6AC-57B5C9352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857875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验收口径：脚本可跑、前端可演示、资金可对账、失败可恢复、关键操作可审计。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8759867-9404-4A59-A6C7-87DDAAC0E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5"/>
                </a:solidFill>
              </a:defRPr>
            </a:pPr>
            <a:r>
              <a:rPr sz="900" b="0">
                <a:solidFill>
                  <a:srgbClr val="5B6475"/>
                </a:solidFill>
              </a:rPr>
              <a:t>董事局报备 / 技术团队交接 · 2026-06-30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89E13F1-C8D8-48EE-93BD-A905D6BD7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475"/>
                </a:solidFill>
              </a:defRPr>
            </a:pPr>
            <a:r>
              <a:rPr sz="900" b="0">
                <a:solidFill>
                  <a:srgbClr val="5B6475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393267654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CD13252-ED9D-4DF5-891B-63182E1D3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B6475"/>
                </a:solidFill>
              </a:defRPr>
            </a:pPr>
            <a:r>
              <a:rPr sz="1200" b="1">
                <a:solidFill>
                  <a:srgbClr val="5B6475"/>
                </a:solidFill>
              </a:rPr>
              <a:t>ZS Exchange 交付报备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8832C0-40D1-49A7-A386-B4B3D0FA3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技术架构图 3：生产部署与监控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3C1996-16A8-4973-8A5B-21CAAE62F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38250"/>
            <a:ext cx="11201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557187-E750-45A6-9992-7F853A62B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66875"/>
            <a:ext cx="1428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93C5F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983480-7CF4-4D8E-AAC9-983379012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62125"/>
            <a:ext cx="1238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827"/>
                </a:solidFill>
              </a:defRPr>
            </a:pPr>
            <a:r>
              <a:rPr sz="1125" b="1">
                <a:solidFill>
                  <a:srgbClr val="111827"/>
                </a:solidFill>
              </a:rPr>
              <a:t>开发/测试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C3C116-95AC-4034-B8E7-CA66E82F0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666875"/>
            <a:ext cx="1428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93C5F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66878F-0C26-401E-A8AF-ACAB42E26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762125"/>
            <a:ext cx="1238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827"/>
                </a:solidFill>
              </a:defRPr>
            </a:pPr>
            <a:r>
              <a:rPr sz="1125" b="1">
                <a:solidFill>
                  <a:srgbClr val="111827"/>
                </a:solidFill>
              </a:rPr>
              <a:t>CI 门禁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E4C731-9E6A-4C53-933C-2D0DB0F85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666875"/>
            <a:ext cx="1428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93C5F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C58019-4A2C-411B-913D-EF4A37256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762125"/>
            <a:ext cx="1238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827"/>
                </a:solidFill>
              </a:defRPr>
            </a:pPr>
            <a:r>
              <a:rPr sz="1125" b="1">
                <a:solidFill>
                  <a:srgbClr val="111827"/>
                </a:solidFill>
              </a:rPr>
              <a:t>构建镜像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591A35-6EB9-4C0B-B566-9CE0A3ED6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666875"/>
            <a:ext cx="1428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93C5F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EE8637-673B-4E09-A476-14622DB0E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762125"/>
            <a:ext cx="1238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827"/>
                </a:solidFill>
              </a:defRPr>
            </a:pPr>
            <a:r>
              <a:rPr sz="1125" b="1">
                <a:solidFill>
                  <a:srgbClr val="111827"/>
                </a:solidFill>
              </a:rPr>
              <a:t>预生产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A849E2-E07C-45CE-8235-64BAB48F1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666875"/>
            <a:ext cx="1428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93C5F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186599-1BD6-4769-989A-EB51201D3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762125"/>
            <a:ext cx="1238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827"/>
                </a:solidFill>
              </a:defRPr>
            </a:pPr>
            <a:r>
              <a:rPr sz="1125" b="1">
                <a:solidFill>
                  <a:srgbClr val="111827"/>
                </a:solidFill>
              </a:rPr>
              <a:t>冒烟检查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F70C57-B1F2-4E08-95B2-FF19C0CB1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666875"/>
            <a:ext cx="1428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93C5F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3F48C0-CF0F-4A9D-9D55-03F667219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762125"/>
            <a:ext cx="1238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827"/>
                </a:solidFill>
              </a:defRPr>
            </a:pPr>
            <a:r>
              <a:rPr sz="1125" b="1">
                <a:solidFill>
                  <a:srgbClr val="111827"/>
                </a:solidFill>
              </a:rPr>
              <a:t>灰度发布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6AF97AF-48B2-4183-BCEA-B920F14BB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1952625"/>
            <a:ext cx="285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1D9FAE8-85A7-4D60-8975-E806D2C16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952625"/>
            <a:ext cx="285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7A4BE0D-4A7B-45CE-9F19-9F4C35072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952625"/>
            <a:ext cx="285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DF939D2-08D3-402B-B35E-61C7511EA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952625"/>
            <a:ext cx="285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AAF38EE-2DF6-4305-AA4A-6EFEB34CB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952625"/>
            <a:ext cx="285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65574E9-9DBC-49B2-8D37-D9BFAC9AB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05125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生产运行态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6885968-D359-47DC-B823-FD07939E1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86125"/>
            <a:ext cx="1619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86EFA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97AE12E-9B79-4E3A-8FA2-42BDEE449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81375"/>
            <a:ext cx="142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Next.js</a:t>
            </a:r>
          </a:p>
          <a:p xmlns:a="http://schemas.openxmlformats.org/drawingml/2006/main">
            <a:pPr algn="ctr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服务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B038AE6-75AE-4F02-8CA0-2CDBB5573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286125"/>
            <a:ext cx="1619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86EFAC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4456A58-7F14-44D9-A5F8-3B5B2A7CD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381375"/>
            <a:ext cx="142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PostgreSQL</a:t>
            </a:r>
          </a:p>
          <a:p xmlns:a="http://schemas.openxmlformats.org/drawingml/2006/main">
            <a:pPr algn="ctr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主数据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29903EF-F5CC-4C94-A63B-88F779258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33875"/>
            <a:ext cx="1619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86EFAC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A1A1947-FB26-4896-811A-EA34C6E58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29125"/>
            <a:ext cx="142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Redis</a:t>
            </a:r>
          </a:p>
          <a:p xmlns:a="http://schemas.openxmlformats.org/drawingml/2006/main">
            <a:pPr algn="ctr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缓存队列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58615BF-9DD6-4CD0-A54C-9105E455D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333875"/>
            <a:ext cx="1619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86EFAC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C231BF9-BDDB-4597-8D9F-78F0C2AE8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429125"/>
            <a:ext cx="142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主备 RPC</a:t>
            </a:r>
          </a:p>
          <a:p xmlns:a="http://schemas.openxmlformats.org/drawingml/2006/main">
            <a:pPr algn="ctr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链上依赖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8ABE67E-7053-4F33-B39F-421F0C13F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5381625"/>
            <a:ext cx="1619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86EFAC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F0536B7-158C-414A-8F89-FDB2B919A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476875"/>
            <a:ext cx="142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KMS/MPC</a:t>
            </a:r>
          </a:p>
          <a:p xmlns:a="http://schemas.openxmlformats.org/drawingml/2006/main">
            <a:pPr algn="ctr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生产签名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41F4580-65CE-42E2-92A2-BE8236BD1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609975"/>
            <a:ext cx="571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91E768D-A1F0-488F-AB30-C1C1F05E0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952875"/>
            <a:ext cx="190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4AA7BCB-F630-491C-BE5C-862644F7E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3733800"/>
            <a:ext cx="1905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670B29B-2F69-48E4-843B-AD728E355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7475" y="5000625"/>
            <a:ext cx="190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E7E236E-CC9E-47D8-A5FC-5ACABB00A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905125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可观测与应急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0D4A7BB-DDD5-4C2E-9B1B-7B5CD6F4A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286125"/>
            <a:ext cx="1714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DBA74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08E2FE8-C849-41D4-B2FD-8EA8F254B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381375"/>
            <a:ext cx="1524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Prometheus</a:t>
            </a:r>
          </a:p>
          <a:p xmlns:a="http://schemas.openxmlformats.org/drawingml/2006/main">
            <a:pPr algn="ctr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指标采集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1139807-0674-4ABE-A3A0-D74106FB2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286125"/>
            <a:ext cx="1714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DBA74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07CB791-8E98-43B8-AE66-C530174DD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381375"/>
            <a:ext cx="1524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Grafana</a:t>
            </a:r>
          </a:p>
          <a:p xmlns:a="http://schemas.openxmlformats.org/drawingml/2006/main">
            <a:pPr algn="ctr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看板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36AE7AC-B672-48A9-B105-8D6DD1CBD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333875"/>
            <a:ext cx="1714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DBA74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422E474-5A45-4B63-BB4B-36E875F68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429125"/>
            <a:ext cx="1524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告警通道</a:t>
            </a:r>
          </a:p>
          <a:p xmlns:a="http://schemas.openxmlformats.org/drawingml/2006/main">
            <a:pPr algn="ctr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飞书/邮件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FE8CFA1-4AE9-4C07-A95D-A7954466A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333875"/>
            <a:ext cx="1714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DBA74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B77DC15-551C-4D1E-942D-12D339D11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429125"/>
            <a:ext cx="1524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日志审计</a:t>
            </a:r>
          </a:p>
          <a:p xmlns:a="http://schemas.openxmlformats.org/drawingml/2006/main">
            <a:pPr algn="ctr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资金/业务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BD47DD8-884E-4783-AA52-794B9C63F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381625"/>
            <a:ext cx="1714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2F2"/>
          </a:solidFill>
          <a:ln xmlns:a="http://schemas.openxmlformats.org/drawingml/2006/main" w="9525">
            <a:solidFill>
              <a:srgbClr val="FCA5A5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ADB9CCE-4FDB-4140-97BA-59CEDE20C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476875"/>
            <a:ext cx="1524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一键回滚</a:t>
            </a:r>
          </a:p>
          <a:p xmlns:a="http://schemas.openxmlformats.org/drawingml/2006/main">
            <a:pPr algn="ctr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5分钟恢复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76A7B69-FCE9-4CCB-A4E4-A9B721A63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609975"/>
            <a:ext cx="76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A719CEF-6A93-4252-A71F-C03941E5D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3952875"/>
            <a:ext cx="190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D9D17FD-0E26-408B-B14B-73E241478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6975" y="3952875"/>
            <a:ext cx="190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5505A40-F250-4571-9EA5-331B05DF3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991100"/>
            <a:ext cx="1238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A5A5"/>
          </a:solidFill>
          <a:ln xmlns:a="http://schemas.openxmlformats.org/drawingml/2006/main" w="9525">
            <a:solidFill>
              <a:srgbClr val="FCA5A5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19D61FE-1F25-4CC5-BDB0-A65449926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991100"/>
            <a:ext cx="1238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A5A5"/>
          </a:solidFill>
          <a:ln xmlns:a="http://schemas.openxmlformats.org/drawingml/2006/main" w="9525">
            <a:solidFill>
              <a:srgbClr val="FCA5A5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D495E64-9055-438C-AE41-9893F133F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5"/>
                </a:solidFill>
              </a:defRPr>
            </a:pPr>
            <a:r>
              <a:rPr sz="900" b="0">
                <a:solidFill>
                  <a:srgbClr val="5B6475"/>
                </a:solidFill>
              </a:rPr>
              <a:t>董事局报备 / 技术团队交接 · 2026-06-30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514758DA-E823-4279-956F-7D39582C6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475"/>
                </a:solidFill>
              </a:defRPr>
            </a:pPr>
            <a:r>
              <a:rPr sz="900" b="0">
                <a:solidFill>
                  <a:srgbClr val="5B6475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0461075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00CE62A-2742-4E2B-AE23-1A7CF53AA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B6475"/>
                </a:solidFill>
              </a:defRPr>
            </a:pPr>
            <a:r>
              <a:rPr sz="1200" b="1">
                <a:solidFill>
                  <a:srgbClr val="5B6475"/>
                </a:solidFill>
              </a:rPr>
              <a:t>ZS Exchange 交付报备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43EF9C-11AB-4DAF-A11C-D3AE44444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商业价值：从交易平台到 Web3 资产入口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04BD9A-FAA2-41E2-9C93-BA43EC1CE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38250"/>
            <a:ext cx="11201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91D2EE-E52F-4A22-813E-97FF4EB88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47625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3FF66D-F63B-4AA8-81FB-3B1B9B92F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07645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563EB"/>
                </a:solidFill>
              </a:defRPr>
            </a:pPr>
            <a:r>
              <a:rPr sz="1950" b="1">
                <a:solidFill>
                  <a:srgbClr val="2563EB"/>
                </a:solidFill>
              </a:rPr>
              <a:t>交易基础设施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2901FC-BAED-4014-915D-1B6A02085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533650"/>
            <a:ext cx="4048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5"/>
                </a:solidFill>
              </a:defRPr>
            </a:pPr>
            <a:r>
              <a:rPr sz="1350" b="0">
                <a:solidFill>
                  <a:srgbClr val="5B6475"/>
                </a:solidFill>
              </a:rPr>
              <a:t>行情、订单、撮合、钱包、充提构成交易所基础盘。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9538E5-CC6A-452A-959E-2B8FFAC37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09750"/>
            <a:ext cx="47625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60ED4E-50FC-49A1-8651-80475E1E0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07645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6A34A"/>
                </a:solidFill>
              </a:defRPr>
            </a:pPr>
            <a:r>
              <a:rPr sz="1950" b="1">
                <a:solidFill>
                  <a:srgbClr val="16A34A"/>
                </a:solidFill>
              </a:rPr>
              <a:t>合规身份能力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1D6456-DA7B-47E2-9380-247119D63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533650"/>
            <a:ext cx="4048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5"/>
                </a:solidFill>
              </a:defRPr>
            </a:pPr>
            <a:r>
              <a:rPr sz="1350" b="0">
                <a:solidFill>
                  <a:srgbClr val="5B6475"/>
                </a:solidFill>
              </a:rPr>
              <a:t>DID、VC、KYC、审计日志为机构合作与合规扩展打基础。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83A507-F250-474D-89CB-8E4522868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47625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61DC03-3998-434C-BF95-59E9717F8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98145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7C3AED"/>
                </a:solidFill>
              </a:defRPr>
            </a:pPr>
            <a:r>
              <a:rPr sz="1950" b="1">
                <a:solidFill>
                  <a:srgbClr val="7C3AED"/>
                </a:solidFill>
              </a:rPr>
              <a:t>Web3 资产入口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819FB1-1B14-4503-B260-5274246FA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438650"/>
            <a:ext cx="4048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5"/>
                </a:solidFill>
              </a:defRPr>
            </a:pPr>
            <a:r>
              <a:rPr sz="1350" b="0">
                <a:solidFill>
                  <a:srgbClr val="5B6475"/>
                </a:solidFill>
              </a:rPr>
              <a:t>Web3 钱包、DApp 浏览器、WalletConnect 构成用户资产入口。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AB6EF2-3BB7-4E5F-ADCE-5944609B9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714750"/>
            <a:ext cx="47625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86B420-3690-4505-BCB4-16EFA4475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98145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97316"/>
                </a:solidFill>
              </a:defRPr>
            </a:pPr>
            <a:r>
              <a:rPr sz="1950" b="1">
                <a:solidFill>
                  <a:srgbClr val="F97316"/>
                </a:solidFill>
              </a:rPr>
              <a:t>业务扩展空间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BA934A-BF4A-4A4B-8AC5-BCFBC63A4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438650"/>
            <a:ext cx="4048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5"/>
                </a:solidFill>
              </a:defRPr>
            </a:pPr>
            <a:r>
              <a:rPr sz="1350" b="0">
                <a:solidFill>
                  <a:srgbClr val="5B6475"/>
                </a:solidFill>
              </a:rPr>
              <a:t>DeFi、NFT、电商、福建老酒链上权益为多业务线预留接口。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07AFBF-A7A9-4378-A158-CECD5B701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5"/>
                </a:solidFill>
              </a:defRPr>
            </a:pPr>
            <a:r>
              <a:rPr sz="900" b="0">
                <a:solidFill>
                  <a:srgbClr val="5B6475"/>
                </a:solidFill>
              </a:rPr>
              <a:t>董事局报备 / 技术团队交接 · 2026-06-30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A52E56E-3270-48C8-B669-64D96FBDC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475"/>
                </a:solidFill>
              </a:defRPr>
            </a:pPr>
            <a:r>
              <a:rPr sz="900" b="0">
                <a:solidFill>
                  <a:srgbClr val="5B6475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33101245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79353A0-5645-4D67-AE37-2FE088648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B6475"/>
                </a:solidFill>
              </a:defRPr>
            </a:pPr>
            <a:r>
              <a:rPr sz="1200" b="1">
                <a:solidFill>
                  <a:srgbClr val="5B6475"/>
                </a:solidFill>
              </a:rPr>
              <a:t>ZS Exchange 交付报备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8A9D6C-7A59-40AE-8C30-067EB526A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业务落地计划：30 / 60 / 90 天推进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7BF71B-9CA6-46E3-833C-84CFF7387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38250"/>
            <a:ext cx="11201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CBEE42-335B-44B1-A357-6B50E0CF0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09750"/>
            <a:ext cx="30480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A8D1A2-C03C-490E-9A69-D4BB549C7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133600"/>
            <a:ext cx="142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97316"/>
                </a:solidFill>
              </a:defRPr>
            </a:pPr>
            <a:r>
              <a:rPr sz="3300" b="1">
                <a:solidFill>
                  <a:srgbClr val="F97316"/>
                </a:solidFill>
              </a:rPr>
              <a:t>30 天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755F6E-788A-4AC9-8827-08B36CEB8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85750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827"/>
                </a:solidFill>
              </a:defRPr>
            </a:pPr>
            <a:r>
              <a:rPr sz="1875" b="1">
                <a:solidFill>
                  <a:srgbClr val="111827"/>
                </a:solidFill>
              </a:rPr>
              <a:t>MVP 核心演示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7B2240-7E48-400A-A243-9DEE631FB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429000"/>
            <a:ext cx="2381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475"/>
                </a:solidFill>
              </a:defRPr>
            </a:pPr>
            <a:r>
              <a:rPr sz="1425" b="0">
                <a:solidFill>
                  <a:srgbClr val="5B6475"/>
                </a:solidFill>
              </a:rPr>
              <a:t>注册、行情、充值、余额、下单、撮合、提现、后台审核、对账审计。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070FD2-2E88-4A2A-97D4-FF15B3A8C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809750"/>
            <a:ext cx="30480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1B5914-D86C-46CC-BE71-6FA9AEB5B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133600"/>
            <a:ext cx="142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2563EB"/>
                </a:solidFill>
              </a:defRPr>
            </a:pPr>
            <a:r>
              <a:rPr sz="3300" b="1">
                <a:solidFill>
                  <a:srgbClr val="2563EB"/>
                </a:solidFill>
              </a:rPr>
              <a:t>60 天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5BC727-CAD0-4B6A-9326-7E74E203A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85750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827"/>
                </a:solidFill>
              </a:defRPr>
            </a:pPr>
            <a:r>
              <a:rPr sz="1875" b="1">
                <a:solidFill>
                  <a:srgbClr val="111827"/>
                </a:solidFill>
              </a:rPr>
              <a:t>预生产准入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38EE3F-1D93-456A-890F-8479C0C37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429000"/>
            <a:ext cx="2381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475"/>
                </a:solidFill>
              </a:defRPr>
            </a:pPr>
            <a:r>
              <a:rPr sz="1425" b="0">
                <a:solidFill>
                  <a:srgbClr val="5B6475"/>
                </a:solidFill>
              </a:rPr>
              <a:t>权限、密钥、监控、告警、回滚、测试门禁、72h 稳定性准备。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584B15-95C1-4B8E-A623-5668D117F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809750"/>
            <a:ext cx="30480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146ABC-E25E-4EC9-B9A6-2DAFD9176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133600"/>
            <a:ext cx="142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6A34A"/>
                </a:solidFill>
              </a:defRPr>
            </a:pPr>
            <a:r>
              <a:rPr sz="3300" b="1">
                <a:solidFill>
                  <a:srgbClr val="16A34A"/>
                </a:solidFill>
              </a:rPr>
              <a:t>90 天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95CB37-6E40-4C94-AAA8-9BA701D9B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85750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827"/>
                </a:solidFill>
              </a:defRPr>
            </a:pPr>
            <a:r>
              <a:rPr sz="1875" b="1">
                <a:solidFill>
                  <a:srgbClr val="111827"/>
                </a:solidFill>
              </a:rPr>
              <a:t>小流量试运营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8EE7B2-9C41-4F95-B2BC-0862D1DA5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429000"/>
            <a:ext cx="2381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475"/>
                </a:solidFill>
              </a:defRPr>
            </a:pPr>
            <a:r>
              <a:rPr sz="1425" b="0">
                <a:solidFill>
                  <a:srgbClr val="5B6475"/>
                </a:solidFill>
              </a:rPr>
              <a:t>白名单用户、小额资金、限额交易、每日审计、正式运营评审。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628AD91-41F7-4310-B1F3-DCDE2086C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429250"/>
            <a:ext cx="914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推进原则：先跑通闭环，再扩展生态；先控制资金风险，再扩大用户规模。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5A2E0A-0F07-4FD1-9DC1-0F8FCE079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5"/>
                </a:solidFill>
              </a:defRPr>
            </a:pPr>
            <a:r>
              <a:rPr sz="900" b="0">
                <a:solidFill>
                  <a:srgbClr val="5B6475"/>
                </a:solidFill>
              </a:rPr>
              <a:t>董事局报备 / 技术团队交接 · 2026-06-30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4493EA0-90E9-426E-8E09-CB973D5E8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475"/>
                </a:solidFill>
              </a:defRPr>
            </a:pPr>
            <a:r>
              <a:rPr sz="900" b="0">
                <a:solidFill>
                  <a:srgbClr val="5B6475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58734345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B859D18-2FE5-4CB3-8D79-96821098A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B6475"/>
                </a:solidFill>
              </a:defRPr>
            </a:pPr>
            <a:r>
              <a:rPr sz="1200" b="1">
                <a:solidFill>
                  <a:srgbClr val="5B6475"/>
                </a:solidFill>
              </a:rPr>
              <a:t>ZS Exchange 交付报备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23B0C0-AC5C-4A98-A0FF-5ED9D951A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上线红线：任一存在，不得生产发布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73BF96-831C-4565-9966-A5C3B72E7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38250"/>
            <a:ext cx="11201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F4480A-3D4C-4026-9DBF-A108BAB22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14500"/>
            <a:ext cx="9715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F7"/>
          </a:solidFill>
          <a:ln xmlns:a="http://schemas.openxmlformats.org/drawingml/2006/main" w="9525">
            <a:solidFill>
              <a:srgbClr val="FECAC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118238-E34D-4F1C-A484-68EDF4FBF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8478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C2626"/>
                </a:solidFill>
              </a:defRPr>
            </a:pPr>
            <a:r>
              <a:rPr sz="1350" b="1">
                <a:solidFill>
                  <a:srgbClr val="DC2626"/>
                </a:solidFill>
              </a:rPr>
              <a:t>P0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24C14C-6C6E-4387-8694-FD13CBC39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838325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明文私钥或本地文件私钥用于生产签名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A88AD1-1203-4D6C-99E7-9D9E17EDF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00300"/>
            <a:ext cx="9715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F7"/>
          </a:solidFill>
          <a:ln xmlns:a="http://schemas.openxmlformats.org/drawingml/2006/main" w="9525">
            <a:solidFill>
              <a:srgbClr val="FECAC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221D97-4B28-446E-AB24-AC02BA3AE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5336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C2626"/>
                </a:solidFill>
              </a:defRPr>
            </a:pPr>
            <a:r>
              <a:rPr sz="1350" b="1">
                <a:solidFill>
                  <a:srgbClr val="DC2626"/>
                </a:solidFill>
              </a:rPr>
              <a:t>P0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1FF4A5-AD87-4F56-AB2E-A9E3AA058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524125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JWT / 管理员权限存在默认兜底或绕过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0C8417-6889-4A6D-B59B-DA5007583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86100"/>
            <a:ext cx="9715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F7"/>
          </a:solidFill>
          <a:ln xmlns:a="http://schemas.openxmlformats.org/drawingml/2006/main" w="9525">
            <a:solidFill>
              <a:srgbClr val="FECAC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A92D6C-1D45-48BB-8149-A96CA8457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2194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C2626"/>
                </a:solidFill>
              </a:defRPr>
            </a:pPr>
            <a:r>
              <a:rPr sz="1350" b="1">
                <a:solidFill>
                  <a:srgbClr val="DC2626"/>
                </a:solidFill>
              </a:rPr>
              <a:t>P0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04E0A3-3E48-4AF1-A206-6586A13EE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209925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充值监听、提币广播、余额对账未真实验证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D892FB-F3D2-4C18-A23B-A153F4515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71900"/>
            <a:ext cx="9715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F7"/>
          </a:solidFill>
          <a:ln xmlns:a="http://schemas.openxmlformats.org/drawingml/2006/main" w="9525">
            <a:solidFill>
              <a:srgbClr val="FECAC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BE6F71-4A1C-4479-BCE0-6D80A3FFF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9052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C2626"/>
                </a:solidFill>
              </a:defRPr>
            </a:pPr>
            <a:r>
              <a:rPr sz="1350" b="1">
                <a:solidFill>
                  <a:srgbClr val="DC2626"/>
                </a:solidFill>
              </a:rPr>
              <a:t>P0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2B3080-0113-4176-880E-379C0DEFC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895725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无 Prometheus 告警、无日志审计、无 5 分钟回滚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E630E0-9857-4093-BA18-CEE246181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57700"/>
            <a:ext cx="9715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F7"/>
          </a:solidFill>
          <a:ln xmlns:a="http://schemas.openxmlformats.org/drawingml/2006/main" w="9525">
            <a:solidFill>
              <a:srgbClr val="FECAC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9019BCD-3BB1-41B6-AB3F-C50009404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5910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C2626"/>
                </a:solidFill>
              </a:defRPr>
            </a:pPr>
            <a:r>
              <a:rPr sz="1350" b="1">
                <a:solidFill>
                  <a:srgbClr val="DC2626"/>
                </a:solidFill>
              </a:rPr>
              <a:t>P0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CFEFC1D-353A-4CB1-89BF-B7EBB078B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581525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依赖 critical / high 漏洞未修复或无隔离说明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666824F-1094-4E96-B970-DB2080EF8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43500"/>
            <a:ext cx="9715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F7"/>
          </a:solidFill>
          <a:ln xmlns:a="http://schemas.openxmlformats.org/drawingml/2006/main" w="9525">
            <a:solidFill>
              <a:srgbClr val="FECAC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C552BFA-60F7-4069-A9B4-E6B5B6F0D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2768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C2626"/>
                </a:solidFill>
              </a:defRPr>
            </a:pPr>
            <a:r>
              <a:rPr sz="1350" b="1">
                <a:solidFill>
                  <a:srgbClr val="DC2626"/>
                </a:solidFill>
              </a:rPr>
              <a:t>P0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C9E0C12-0127-43F9-B5FD-28CDF6014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267325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DID / Web3 / Admin 敏感接口未鉴权或响应字段未白名单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DFBA135-D041-48E5-95B0-EE5D8D4E8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5"/>
                </a:solidFill>
              </a:defRPr>
            </a:pPr>
            <a:r>
              <a:rPr sz="900" b="0">
                <a:solidFill>
                  <a:srgbClr val="5B6475"/>
                </a:solidFill>
              </a:rPr>
              <a:t>董事局报备 / 技术团队交接 · 2026-06-30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D8176F5-5653-4917-AAE8-F611163AE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475"/>
                </a:solidFill>
              </a:defRPr>
            </a:pPr>
            <a:r>
              <a:rPr sz="900" b="0">
                <a:solidFill>
                  <a:srgbClr val="5B6475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36778509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8C5ADF7-FD85-44FE-8BB0-B08F4F0EA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B6475"/>
                </a:solidFill>
              </a:defRPr>
            </a:pPr>
            <a:r>
              <a:rPr sz="1200" b="1">
                <a:solidFill>
                  <a:srgbClr val="5B6475"/>
                </a:solidFill>
              </a:rPr>
              <a:t>ZS Exchange 交付报备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E0A7CE-F067-4BA4-B207-CA1141156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技术团队接收：建议按负责人拆包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8DFA5D-D771-4CD4-86CC-D446BB13A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38250"/>
            <a:ext cx="11201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A32078-A9B8-452F-A20A-53C2DE62D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29527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9ACA9F-6973-4DB7-8899-D14F84976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574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技术负责人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F602EE-1EB4-4B1E-B0CC-170096721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76500"/>
            <a:ext cx="2343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5"/>
                </a:solidFill>
              </a:defRPr>
            </a:pPr>
            <a:r>
              <a:rPr sz="1350" b="0">
                <a:solidFill>
                  <a:srgbClr val="5B6475"/>
                </a:solidFill>
              </a:rPr>
              <a:t>架构把关、代码合并策略、质量门禁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21F33C-CE74-434D-98DB-1C9E6B6F3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809750"/>
            <a:ext cx="29527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5071AF-8B60-436F-8A4D-1F171F802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0574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后端/API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740BEE-4812-4221-8F41-DBE963C58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476500"/>
            <a:ext cx="2343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5"/>
                </a:solidFill>
              </a:defRPr>
            </a:pPr>
            <a:r>
              <a:rPr sz="1350" b="0">
                <a:solidFill>
                  <a:srgbClr val="5B6475"/>
                </a:solidFill>
              </a:rPr>
              <a:t>接口、权限、Repository、DTO、业务联调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7C6A86-3300-4F0D-AB02-AFEFCA9BF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809750"/>
            <a:ext cx="29527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60D613-54C9-4301-ACC6-3E802840E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0574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交易引擎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46150E-A05C-4616-BD12-EE7B07C48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476500"/>
            <a:ext cx="2343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5"/>
                </a:solidFill>
              </a:defRPr>
            </a:pPr>
            <a:r>
              <a:rPr sz="1350" b="0">
                <a:solidFill>
                  <a:srgbClr val="5B6475"/>
                </a:solidFill>
              </a:rPr>
              <a:t>撮合、订单、余额、成交、手续费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24EE1F-4E88-4851-9671-FEF0E8C59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62375"/>
            <a:ext cx="29527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78DE50-0D63-4BF7-91AB-928C896D4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100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钱包/Web3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E45C4D-F680-4B60-AD8E-01D3AEF72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29125"/>
            <a:ext cx="2343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5"/>
                </a:solidFill>
              </a:defRPr>
            </a:pPr>
            <a:r>
              <a:rPr sz="1350" b="0">
                <a:solidFill>
                  <a:srgbClr val="5B6475"/>
                </a:solidFill>
              </a:rPr>
              <a:t>充提、链监听、签名、DID、DApp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DA0495-4250-45AF-AC5F-C25730967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62375"/>
            <a:ext cx="29527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B93D11-B38F-41F3-AC0B-1AABFC9A5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0100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前端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D0F86FC-62E2-42A3-8FD0-03607CD7F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429125"/>
            <a:ext cx="2343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5"/>
                </a:solidFill>
              </a:defRPr>
            </a:pPr>
            <a:r>
              <a:rPr sz="1350" b="0">
                <a:solidFill>
                  <a:srgbClr val="5B6475"/>
                </a:solidFill>
              </a:rPr>
              <a:t>用户端、后台端、核心流程真实化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7AF6D06-CF7C-49D2-809B-06DA87D4C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762375"/>
            <a:ext cx="29527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BCE357A-0E81-4B6D-A3BE-D70E69F07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0100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测试/SRE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AB649AF-3086-4F8E-991E-E3FCF0FEF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429125"/>
            <a:ext cx="2343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5"/>
                </a:solidFill>
              </a:defRPr>
            </a:pPr>
            <a:r>
              <a:rPr sz="1350" b="0">
                <a:solidFill>
                  <a:srgbClr val="5B6475"/>
                </a:solidFill>
              </a:rPr>
              <a:t>自动化、监控、告警、回滚、安全治理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B0C4B07-1478-4F1B-8B93-4F3CCDC99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5"/>
                </a:solidFill>
              </a:defRPr>
            </a:pPr>
            <a:r>
              <a:rPr sz="900" b="0">
                <a:solidFill>
                  <a:srgbClr val="5B6475"/>
                </a:solidFill>
              </a:rPr>
              <a:t>董事局报备 / 技术团队交接 · 2026-06-30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0DDCDA3-CE47-4DEA-83D4-EF1B45A65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475"/>
                </a:solidFill>
              </a:defRPr>
            </a:pPr>
            <a:r>
              <a:rPr sz="900" b="0">
                <a:solidFill>
                  <a:srgbClr val="5B6475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2139772912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838F808-0457-45B5-8CD2-6FCBF82EA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B6475"/>
                </a:solidFill>
              </a:defRPr>
            </a:pPr>
            <a:r>
              <a:rPr sz="1200" b="1">
                <a:solidFill>
                  <a:srgbClr val="5B6475"/>
                </a:solidFill>
              </a:rPr>
              <a:t>ZS Exchange 交付报备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7F08E0-933C-4E56-BE64-E9ACF5024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董事局需要确认的三项决策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5462B3-5279-4310-8C24-AB7C6B3C7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38250"/>
            <a:ext cx="11201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414D1E-9E55-4517-98D9-804239EC3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714500"/>
            <a:ext cx="9144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AC275A-3910-4903-884A-00647D07E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943100"/>
            <a:ext cx="523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97316"/>
                </a:solidFill>
              </a:defRPr>
            </a:pPr>
            <a:r>
              <a:rPr sz="1950" b="1">
                <a:solidFill>
                  <a:srgbClr val="F97316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2B5AB5-7066-4604-A9DC-935DCC0F4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18478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827"/>
                </a:solidFill>
              </a:defRPr>
            </a:pPr>
            <a:r>
              <a:rPr sz="1875" b="1">
                <a:solidFill>
                  <a:srgbClr val="111827"/>
                </a:solidFill>
              </a:rPr>
              <a:t>确认 MVP 边界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9D72E5-9059-482B-B180-8D693B107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228850"/>
            <a:ext cx="723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5"/>
                </a:solidFill>
              </a:defRPr>
            </a:pPr>
            <a:r>
              <a:rPr sz="1350" b="0">
                <a:solidFill>
                  <a:srgbClr val="5B6475"/>
                </a:solidFill>
              </a:rPr>
              <a:t>先做注册、行情、下单、撮合、充值、提现、余额、后台审核；暂缓复杂生态模块。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6341F8-5FB6-4D8B-B817-A038F5DBE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952750"/>
            <a:ext cx="9144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DBA7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72B45D-C54A-4E97-B6E5-466290B77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181350"/>
            <a:ext cx="523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97316"/>
                </a:solidFill>
              </a:defRPr>
            </a:pPr>
            <a:r>
              <a:rPr sz="1950" b="1">
                <a:solidFill>
                  <a:srgbClr val="F97316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12B94E-A049-41BE-9ED9-F7E3914CE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0861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827"/>
                </a:solidFill>
              </a:defRPr>
            </a:pPr>
            <a:r>
              <a:rPr sz="1875" b="1">
                <a:solidFill>
                  <a:srgbClr val="111827"/>
                </a:solidFill>
              </a:rPr>
              <a:t>确认上线红线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4DA1D6-450B-49D6-AA6A-F5979FCE5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467100"/>
            <a:ext cx="723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5"/>
                </a:solidFill>
              </a:defRPr>
            </a:pPr>
            <a:r>
              <a:rPr sz="1350" b="0">
                <a:solidFill>
                  <a:srgbClr val="5B6475"/>
                </a:solidFill>
              </a:rPr>
              <a:t>资金安全、密钥隔离、权限、监控、测试、回滚任一未达标，不得生产上线。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661F8F-6014-4E87-A623-EF2338CEA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191000"/>
            <a:ext cx="9144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A9ADD7-86A1-4FE8-B67F-E69E68407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19600"/>
            <a:ext cx="523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97316"/>
                </a:solidFill>
              </a:defRPr>
            </a:pPr>
            <a:r>
              <a:rPr sz="1950" b="1">
                <a:solidFill>
                  <a:srgbClr val="F97316"/>
                </a:solidFill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1B013D-6F9A-4198-A579-1DC9FEB1E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3243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827"/>
                </a:solidFill>
              </a:defRPr>
            </a:pPr>
            <a:r>
              <a:rPr sz="1875" b="1">
                <a:solidFill>
                  <a:srgbClr val="111827"/>
                </a:solidFill>
              </a:rPr>
              <a:t>确认专项负责人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AF4717-780C-4735-9BEB-5CCCAFEAA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705350"/>
            <a:ext cx="723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5"/>
                </a:solidFill>
              </a:defRPr>
            </a:pPr>
            <a:r>
              <a:rPr sz="1350" b="0">
                <a:solidFill>
                  <a:srgbClr val="5B6475"/>
                </a:solidFill>
              </a:rPr>
              <a:t>交易、钱包、安全、前端、SRE、测试必须各有负责人，避免一人扛全部 P0。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FC2D41-CFB6-4F0A-9118-6E2797A1A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695950"/>
            <a:ext cx="914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6A34A"/>
                </a:solidFill>
              </a:defRPr>
            </a:pPr>
            <a:r>
              <a:rPr sz="1950" b="1">
                <a:solidFill>
                  <a:srgbClr val="16A34A"/>
                </a:solidFill>
              </a:rPr>
              <a:t>建议结论：批准进入“技术团队接管 + MVP 冲刺 + 生产加固”阶段。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3172B09-FB2A-4A52-807A-35A16221D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5"/>
                </a:solidFill>
              </a:defRPr>
            </a:pPr>
            <a:r>
              <a:rPr sz="900" b="0">
                <a:solidFill>
                  <a:srgbClr val="5B6475"/>
                </a:solidFill>
              </a:rPr>
              <a:t>董事局报备 / 技术团队交接 · 2026-06-30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C688BA8-EC5E-4CE9-9275-843B196A7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475"/>
                </a:solidFill>
              </a:defRPr>
            </a:pPr>
            <a:r>
              <a:rPr sz="900" b="0">
                <a:solidFill>
                  <a:srgbClr val="5B6475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27794341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2026-06-29T21:35:11.9640000Z</dcterms:created>
  <dcterms:modified xsi:type="dcterms:W3CDTF">2026-06-29T21:35:11.9640000Z</dcterms:modified>
</coreProperties>
</file>